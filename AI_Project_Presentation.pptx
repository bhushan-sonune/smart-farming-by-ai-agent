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83" r:id="rId2"/>
    <p:sldId id="257" r:id="rId3"/>
    <p:sldId id="282" r:id="rId4"/>
    <p:sldId id="284" r:id="rId5"/>
    <p:sldId id="285" r:id="rId6"/>
    <p:sldId id="281" r:id="rId7"/>
    <p:sldId id="279" r:id="rId8"/>
    <p:sldId id="262" r:id="rId9"/>
    <p:sldId id="264" r:id="rId10"/>
    <p:sldId id="278" r:id="rId11"/>
    <p:sldId id="286" r:id="rId12"/>
    <p:sldId id="277" r:id="rId13"/>
    <p:sldId id="280" r:id="rId14"/>
    <p:sldId id="27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86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0A8E369-C804-D8D2-383B-03E8A547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68FC73D-F867-8E13-0025-1B4081892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49581B4-9B47-7782-B749-078618A6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5151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sonunebhushan2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hushan-Sonune/Smart-farming-by-AI-Agent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626287"/>
          </a:xfrm>
        </p:spPr>
        <p:txBody>
          <a:bodyPr>
            <a:normAutofit fontScale="90000"/>
          </a:bodyPr>
          <a:lstStyle/>
          <a:p>
            <a:r>
              <a:rPr dirty="0"/>
              <a:t>IBM University Engagement Project Submission</a:t>
            </a:r>
          </a:p>
          <a:p>
            <a:endParaRPr dirty="0"/>
          </a:p>
          <a:p>
            <a:r>
              <a:rPr dirty="0"/>
              <a:t>AI Agent for Smart Farming Advice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148261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3607150061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Bhushan Sonune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hlinkClick r:id="rId3"/>
                        </a:rPr>
                        <a:t>sonunebhushan2@gmail.com</a:t>
                      </a: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9545818255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164493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Domain of Project – Agriculture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4" y="677274"/>
            <a:ext cx="9581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dirty="0"/>
              <a:t>Project Title – </a:t>
            </a:r>
            <a:r>
              <a:rPr lang="en-IN" dirty="0"/>
              <a:t>AI Agent for Smart Farming Advice 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2E7814-F01A-EC67-1A01-F866715DFA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2390" y="3592069"/>
            <a:ext cx="1737360" cy="11753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Problem Statement: AI Agent for Smart Farming Advice</a:t>
            </a:r>
          </a:p>
          <a:p>
            <a:endParaRPr/>
          </a:p>
          <a:p>
            <a:r>
              <a:t>Challenge:</a:t>
            </a:r>
          </a:p>
          <a:p>
            <a:r>
              <a:t>Small farmers struggle to access localized information on crops, weather, soil, pests, and mandi prices.</a:t>
            </a:r>
          </a:p>
          <a:p>
            <a:endParaRPr/>
          </a:p>
          <a:p>
            <a:r>
              <a:t>Objective:</a:t>
            </a:r>
          </a:p>
          <a:p>
            <a:r>
              <a:t>Build an AI-powered farming assistant that provides:</a:t>
            </a:r>
          </a:p>
          <a:p>
            <a:r>
              <a:t>• Crop recommendations</a:t>
            </a:r>
          </a:p>
          <a:p>
            <a:r>
              <a:t>• Weather-aware advice</a:t>
            </a:r>
          </a:p>
          <a:p>
            <a:r>
              <a:t>• Soil-based suggestions</a:t>
            </a:r>
          </a:p>
          <a:p>
            <a:r>
              <a:t>• Pest management guidance</a:t>
            </a:r>
          </a:p>
          <a:p>
            <a:r>
              <a:t>• Real-time mandi prices</a:t>
            </a:r>
          </a:p>
          <a:p>
            <a:r>
              <a:t>• Local language interaction</a:t>
            </a:r>
          </a:p>
          <a:p>
            <a:endParaRPr/>
          </a:p>
          <a:p>
            <a:r>
              <a:t>Multi-Agent System:</a:t>
            </a:r>
          </a:p>
          <a:p>
            <a:r>
              <a:t>1. Crop Recommendation Agent</a:t>
            </a:r>
          </a:p>
          <a:p>
            <a:r>
              <a:t>2. Weather Intelligence Agent</a:t>
            </a:r>
          </a:p>
          <a:p>
            <a:r>
              <a:t>3. Market Price Agent</a:t>
            </a:r>
          </a:p>
          <a:p>
            <a:r>
              <a:t>4. Pest Detection Agent</a:t>
            </a:r>
          </a:p>
          <a:p>
            <a:r>
              <a:t>5. Knowledge Retrieval Agent (RAG)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A77E81F-021A-57FB-C709-7E707564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CFCB91-EF22-EB8C-5B0D-4D46021F0245}"/>
              </a:ext>
            </a:extLst>
          </p:cNvPr>
          <p:cNvSpPr txBox="1"/>
          <p:nvPr/>
        </p:nvSpPr>
        <p:spPr>
          <a:xfrm>
            <a:off x="576072" y="3314593"/>
            <a:ext cx="10695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dirty="0"/>
              <a:t>Approach Used:</a:t>
            </a:r>
          </a:p>
          <a:p>
            <a:r>
              <a:rPr dirty="0" err="1"/>
              <a:t>LangFlow</a:t>
            </a:r>
            <a:r>
              <a:rPr dirty="0"/>
              <a:t> + IBM watsonx.ai + Granite Models + RAG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926A1-0833-2949-651F-2AAB4D91A8C9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dirty="0"/>
              <a:t>Technology Used</a:t>
            </a:r>
          </a:p>
          <a:p>
            <a:endParaRPr dirty="0"/>
          </a:p>
          <a:p>
            <a:r>
              <a:rPr dirty="0"/>
              <a:t>• IBM Granite Models</a:t>
            </a:r>
          </a:p>
          <a:p>
            <a:r>
              <a:rPr dirty="0"/>
              <a:t>• IBM watsonx.ai</a:t>
            </a:r>
          </a:p>
          <a:p>
            <a:r>
              <a:rPr dirty="0"/>
              <a:t>• IBM Cloud Lite</a:t>
            </a:r>
          </a:p>
          <a:p>
            <a:r>
              <a:rPr dirty="0"/>
              <a:t>• </a:t>
            </a:r>
            <a:r>
              <a:rPr dirty="0" err="1"/>
              <a:t>LangFlow</a:t>
            </a:r>
            <a:endParaRPr dirty="0"/>
          </a:p>
          <a:p>
            <a:r>
              <a:rPr dirty="0"/>
              <a:t>• FAISS Vector DB</a:t>
            </a:r>
          </a:p>
          <a:p>
            <a:r>
              <a:rPr dirty="0"/>
              <a:t>• </a:t>
            </a:r>
            <a:r>
              <a:rPr dirty="0" err="1"/>
              <a:t>FastAPI</a:t>
            </a:r>
            <a:endParaRPr dirty="0"/>
          </a:p>
          <a:p>
            <a:r>
              <a:rPr dirty="0"/>
              <a:t>• Weather APIs</a:t>
            </a:r>
          </a:p>
          <a:p>
            <a:r>
              <a:rPr dirty="0"/>
              <a:t>• Agriculture Datasets</a:t>
            </a:r>
          </a:p>
        </p:txBody>
      </p:sp>
    </p:spTree>
    <p:extLst>
      <p:ext uri="{BB962C8B-B14F-4D97-AF65-F5344CB8AC3E}">
        <p14:creationId xmlns:p14="http://schemas.microsoft.com/office/powerpoint/2010/main" val="421846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 dirty="0"/>
              <a:t>Proposed Solution: AI</a:t>
            </a:r>
            <a:r>
              <a:rPr lang="en-US" sz="1800" dirty="0"/>
              <a:t> powered Farming advice</a:t>
            </a:r>
            <a:endParaRPr sz="1800" dirty="0"/>
          </a:p>
          <a:p>
            <a:endParaRPr sz="1800" dirty="0"/>
          </a:p>
          <a:p>
            <a:r>
              <a:rPr sz="1800" dirty="0"/>
              <a:t>A multilingual farming assistant using RAG and IBM Granite.</a:t>
            </a:r>
          </a:p>
          <a:p>
            <a:endParaRPr sz="1800" dirty="0"/>
          </a:p>
          <a:p>
            <a:r>
              <a:rPr sz="1800" dirty="0"/>
              <a:t>Workflow:</a:t>
            </a:r>
          </a:p>
          <a:p>
            <a:r>
              <a:rPr sz="1800" dirty="0"/>
              <a:t>Farmer Query → Retriever → Agriculture Knowledge Base/API → Granite Model → Personalized Advice</a:t>
            </a:r>
          </a:p>
          <a:p>
            <a:endParaRPr sz="1800" dirty="0"/>
          </a:p>
          <a:p>
            <a:r>
              <a:rPr sz="1800" dirty="0"/>
              <a:t>Features:</a:t>
            </a:r>
          </a:p>
          <a:p>
            <a:r>
              <a:rPr sz="1800" dirty="0"/>
              <a:t>• Local language support</a:t>
            </a:r>
          </a:p>
          <a:p>
            <a:r>
              <a:rPr sz="1800" dirty="0"/>
              <a:t>• Soil + crop recommendation</a:t>
            </a:r>
          </a:p>
          <a:p>
            <a:r>
              <a:rPr sz="1800" dirty="0"/>
              <a:t>• Market price lookup</a:t>
            </a:r>
          </a:p>
          <a:p>
            <a:r>
              <a:rPr sz="1800" dirty="0"/>
              <a:t>• Pest control guidance</a:t>
            </a:r>
          </a:p>
          <a:p>
            <a:r>
              <a:rPr sz="1800" dirty="0"/>
              <a:t>• Seasonal farming insights</a:t>
            </a:r>
          </a:p>
          <a:p>
            <a:r>
              <a:rPr sz="1800" dirty="0"/>
              <a:t>• Continuous learning via feedback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IN" sz="1800" b="1" dirty="0" err="1"/>
              <a:t>Langflow</a:t>
            </a:r>
            <a:r>
              <a:rPr lang="en-IN" sz="1800" b="1" dirty="0"/>
              <a:t> Components Used</a:t>
            </a:r>
          </a:p>
          <a:p>
            <a:endParaRPr lang="en-IN" sz="1800" dirty="0"/>
          </a:p>
          <a:p>
            <a:r>
              <a:rPr lang="en-IN" sz="1800" b="1" dirty="0"/>
              <a:t>Chat Input</a:t>
            </a:r>
            <a:r>
              <a:rPr lang="en-IN" sz="1800" dirty="0"/>
              <a:t> – Farmers enter queries through text or voice in local languages. </a:t>
            </a:r>
          </a:p>
          <a:p>
            <a:r>
              <a:rPr lang="en-IN" sz="1800" b="1" dirty="0"/>
              <a:t>IBM </a:t>
            </a:r>
            <a:r>
              <a:rPr lang="en-IN" sz="1800" b="1" dirty="0" err="1"/>
              <a:t>watsonx</a:t>
            </a:r>
            <a:r>
              <a:rPr lang="en-IN" sz="1800" b="1" dirty="0"/>
              <a:t> AI Agent</a:t>
            </a:r>
            <a:r>
              <a:rPr lang="en-IN" sz="1800" dirty="0"/>
              <a:t> – Processes farmer queries using IBM Granite models. </a:t>
            </a:r>
          </a:p>
          <a:p>
            <a:r>
              <a:rPr lang="en-IN" sz="1800" b="1" dirty="0"/>
              <a:t>Granite 4.0 Instruct Model</a:t>
            </a:r>
            <a:r>
              <a:rPr lang="en-IN" sz="1800" dirty="0"/>
              <a:t> – Generates farming recommendations and contextual advice. </a:t>
            </a:r>
          </a:p>
          <a:p>
            <a:r>
              <a:rPr lang="en-IN" sz="1800" b="1" dirty="0"/>
              <a:t>RAG Retriever</a:t>
            </a:r>
            <a:r>
              <a:rPr lang="en-IN" sz="1800" dirty="0"/>
              <a:t> – Retrieves trusted agriculture data from crop, soil, pest, and weather knowledge bases. </a:t>
            </a:r>
          </a:p>
          <a:p>
            <a:r>
              <a:rPr lang="en-IN" sz="1800" b="1" dirty="0"/>
              <a:t>Vector Store (FAISS)</a:t>
            </a:r>
            <a:r>
              <a:rPr lang="en-IN" sz="1800" dirty="0"/>
              <a:t> – Stores embeddings for fast retrieval of agricultural information. </a:t>
            </a:r>
          </a:p>
          <a:p>
            <a:r>
              <a:rPr lang="en-IN" sz="1800" b="1" dirty="0"/>
              <a:t>API Connectors</a:t>
            </a:r>
            <a:r>
              <a:rPr lang="en-IN" sz="1800" dirty="0"/>
              <a:t> – Connects to weather APIs, mandi price APIs, soil databases, and agricultural sources. </a:t>
            </a:r>
          </a:p>
          <a:p>
            <a:r>
              <a:rPr lang="en-IN" sz="1800" b="1" dirty="0"/>
              <a:t>Multi-Agent Coordinator</a:t>
            </a:r>
            <a:r>
              <a:rPr lang="en-IN" sz="1800" dirty="0"/>
              <a:t> – Coordinates Crop, Pest, Weather, and Market agents. </a:t>
            </a:r>
          </a:p>
          <a:p>
            <a:r>
              <a:rPr lang="en-IN" sz="1800" b="1" dirty="0"/>
              <a:t>Chat Output</a:t>
            </a:r>
            <a:r>
              <a:rPr lang="en-IN" sz="1800" dirty="0"/>
              <a:t> – Displays localized farming recommendations and responses to farmers.</a:t>
            </a: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1100078" y="2870221"/>
            <a:ext cx="88239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 startAt="3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BF3590-52D3-DC9D-2C84-E66D9597D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745" y="1714579"/>
            <a:ext cx="10987548" cy="5143421"/>
          </a:xfrm>
          <a:prstGeom prst="rect">
            <a:avLst/>
          </a:prstGeom>
        </p:spPr>
      </p:pic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dirty="0" err="1"/>
              <a:t>LangFlow</a:t>
            </a:r>
            <a:r>
              <a:rPr dirty="0"/>
              <a:t> Workflow</a:t>
            </a:r>
          </a:p>
          <a:p>
            <a:endParaRPr dirty="0"/>
          </a:p>
          <a:p>
            <a:r>
              <a:rPr dirty="0"/>
              <a:t>User Input</a:t>
            </a:r>
          </a:p>
          <a:p>
            <a:r>
              <a:rPr dirty="0"/>
              <a:t>↓</a:t>
            </a:r>
          </a:p>
          <a:p>
            <a:r>
              <a:rPr dirty="0"/>
              <a:t>Language Detection</a:t>
            </a:r>
          </a:p>
          <a:p>
            <a:r>
              <a:rPr dirty="0"/>
              <a:t>↓</a:t>
            </a:r>
          </a:p>
          <a:p>
            <a:r>
              <a:rPr dirty="0"/>
              <a:t>RAG Retriever</a:t>
            </a:r>
          </a:p>
          <a:p>
            <a:r>
              <a:rPr dirty="0"/>
              <a:t>↓</a:t>
            </a:r>
          </a:p>
          <a:p>
            <a:r>
              <a:rPr dirty="0"/>
              <a:t>IBM Granite Model</a:t>
            </a:r>
          </a:p>
          <a:p>
            <a:r>
              <a:rPr dirty="0"/>
              <a:t>↓</a:t>
            </a:r>
          </a:p>
          <a:p>
            <a:r>
              <a:rPr dirty="0"/>
              <a:t>Reasoning Layer</a:t>
            </a:r>
          </a:p>
          <a:p>
            <a:r>
              <a:rPr dirty="0"/>
              <a:t>↓</a:t>
            </a:r>
          </a:p>
          <a:p>
            <a:r>
              <a:rPr dirty="0"/>
              <a:t>Personalized Farming Advice</a:t>
            </a:r>
          </a:p>
        </p:txBody>
      </p:sp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38400" y="1071448"/>
            <a:ext cx="9753600" cy="578655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dirty="0"/>
              <a:t>Architecture Blueprint</a:t>
            </a:r>
          </a:p>
          <a:p>
            <a:endParaRPr dirty="0"/>
          </a:p>
          <a:p>
            <a:r>
              <a:rPr dirty="0"/>
              <a:t>Farmer App</a:t>
            </a:r>
          </a:p>
          <a:p>
            <a:r>
              <a:rPr dirty="0"/>
              <a:t>↓</a:t>
            </a:r>
          </a:p>
          <a:p>
            <a:r>
              <a:rPr dirty="0" err="1"/>
              <a:t>FastAPI</a:t>
            </a:r>
            <a:r>
              <a:rPr dirty="0"/>
              <a:t> Backend</a:t>
            </a:r>
          </a:p>
          <a:p>
            <a:r>
              <a:rPr dirty="0"/>
              <a:t>↓</a:t>
            </a:r>
          </a:p>
          <a:p>
            <a:r>
              <a:rPr dirty="0" err="1"/>
              <a:t>LangFlow</a:t>
            </a:r>
            <a:r>
              <a:rPr dirty="0"/>
              <a:t> Orchestration</a:t>
            </a:r>
          </a:p>
          <a:p>
            <a:r>
              <a:rPr dirty="0"/>
              <a:t>↓</a:t>
            </a:r>
          </a:p>
          <a:p>
            <a:r>
              <a:rPr dirty="0"/>
              <a:t>IBM Granite + </a:t>
            </a:r>
            <a:r>
              <a:rPr dirty="0" err="1"/>
              <a:t>watsonx</a:t>
            </a:r>
            <a:endParaRPr dirty="0"/>
          </a:p>
          <a:p>
            <a:r>
              <a:rPr dirty="0"/>
              <a:t>↓</a:t>
            </a:r>
          </a:p>
          <a:p>
            <a:r>
              <a:rPr dirty="0"/>
              <a:t>RAG + Vector DB</a:t>
            </a:r>
          </a:p>
          <a:p>
            <a:r>
              <a:rPr dirty="0"/>
              <a:t>↓</a:t>
            </a:r>
          </a:p>
          <a:p>
            <a:r>
              <a:rPr dirty="0"/>
              <a:t>External APIs (Weather / Mandi / Soil)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Role of Agentic AI</a:t>
            </a:r>
          </a:p>
          <a:p>
            <a:endParaRPr/>
          </a:p>
          <a:p>
            <a:r>
              <a:t>• Coordinates multiple farming agents</a:t>
            </a:r>
          </a:p>
          <a:p>
            <a:r>
              <a:t>• Provides localized recommendations</a:t>
            </a:r>
          </a:p>
          <a:p>
            <a:r>
              <a:t>• Uses contextual reasoning</a:t>
            </a:r>
          </a:p>
          <a:p>
            <a:r>
              <a:t>• Dynamically adapts advice</a:t>
            </a:r>
          </a:p>
          <a:p>
            <a:r>
              <a:t>• Reduces dependency on manual consultations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475488" y="2092053"/>
            <a:ext cx="74066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Role of Agentic AI in Nutrition Agent</a:t>
            </a:r>
          </a:p>
          <a:p>
            <a:r>
              <a:rPr lang="en-US" b="1" dirty="0"/>
              <a:t>Agentic AI</a:t>
            </a:r>
            <a:r>
              <a:rPr lang="en-US" dirty="0"/>
              <a:t> enables the Nutrition Agent to function as an intelligent, autonomous system rather than a simple chatbot. Using </a:t>
            </a:r>
            <a:r>
              <a:rPr lang="en-US" b="1" dirty="0"/>
              <a:t>IBM watsonx.ai</a:t>
            </a:r>
            <a:r>
              <a:rPr lang="en-US" dirty="0"/>
              <a:t> and </a:t>
            </a:r>
            <a:r>
              <a:rPr lang="en-US" b="1" dirty="0"/>
              <a:t>IBM Granite models</a:t>
            </a:r>
            <a:r>
              <a:rPr lang="en-US" dirty="0"/>
              <a:t>, it coordinates multiple specialized agents to deliver personalized nutrition guidance.</a:t>
            </a:r>
          </a:p>
          <a:p>
            <a:r>
              <a:rPr lang="en-US" dirty="0"/>
              <a:t>Each agent performs a specific role—such as retrieving nutritional data, generating diet plans, providing health advice, and analyzing food logs—while working collaboratively. This </a:t>
            </a:r>
            <a:r>
              <a:rPr lang="en-US" b="1" dirty="0"/>
              <a:t>multi-agent approach</a:t>
            </a:r>
            <a:r>
              <a:rPr lang="en-US" dirty="0"/>
              <a:t> ensures efficient task execution and accurate results.</a:t>
            </a:r>
          </a:p>
          <a:p>
            <a:r>
              <a:rPr lang="en-US" dirty="0"/>
              <a:t>Agentic AI also brings </a:t>
            </a:r>
            <a:r>
              <a:rPr lang="en-US" b="1" dirty="0"/>
              <a:t>context awareness</a:t>
            </a:r>
            <a:r>
              <a:rPr lang="en-US" dirty="0"/>
              <a:t>, understanding user details like age, health conditions, and fitness goals to generate tailored recommendations. It supports </a:t>
            </a:r>
            <a:r>
              <a:rPr lang="en-US" b="1" dirty="0"/>
              <a:t>real-time adaptation</a:t>
            </a:r>
            <a:r>
              <a:rPr lang="en-US" dirty="0"/>
              <a:t>, continuously updating suggestions based on user inputs like daily meals.</a:t>
            </a:r>
          </a:p>
          <a:p>
            <a:r>
              <a:rPr lang="en-US" dirty="0"/>
              <a:t>Additionally, agents communicate with each other, enabling better decision-making and improved outcomes.</a:t>
            </a:r>
          </a:p>
          <a:p>
            <a:r>
              <a:rPr lang="en-US" dirty="0"/>
              <a:t>Overall, Agentic AI makes the system proactive, personalized, and goal-driven, acting like a </a:t>
            </a:r>
            <a:r>
              <a:rPr lang="en-US" b="1" dirty="0"/>
              <a:t>smart digital nutritionist</a:t>
            </a:r>
            <a:r>
              <a:rPr lang="en-US" dirty="0"/>
              <a:t> that helps users maintain a healthy lifestyle.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Technology Used</a:t>
            </a:r>
          </a:p>
          <a:p>
            <a:endParaRPr lang="en-IN" sz="1800" dirty="0"/>
          </a:p>
          <a:p>
            <a:r>
              <a:rPr lang="en-IN" sz="1800" b="1" dirty="0"/>
              <a:t>IBM Cloud Lite</a:t>
            </a:r>
            <a:r>
              <a:rPr lang="en-IN" sz="1800" dirty="0"/>
              <a:t> – Deployment and scalable cloud infrastructure</a:t>
            </a:r>
          </a:p>
          <a:p>
            <a:r>
              <a:rPr lang="en-IN" sz="1800" dirty="0"/>
              <a:t> </a:t>
            </a:r>
          </a:p>
          <a:p>
            <a:r>
              <a:rPr lang="en-IN" sz="1800" b="1" dirty="0"/>
              <a:t>IBM Granite Models</a:t>
            </a:r>
            <a:r>
              <a:rPr lang="en-IN" sz="1800" dirty="0"/>
              <a:t> – Natural language reasoning and agricultural recommendations </a:t>
            </a:r>
          </a:p>
          <a:p>
            <a:endParaRPr lang="en-IN" sz="1800" dirty="0"/>
          </a:p>
          <a:p>
            <a:r>
              <a:rPr lang="en-IN" sz="1800" b="1" dirty="0" err="1"/>
              <a:t>LangFlow</a:t>
            </a:r>
            <a:r>
              <a:rPr lang="en-IN" sz="1800" dirty="0"/>
              <a:t> – Designing and orchestrating multi-agent workflows </a:t>
            </a:r>
          </a:p>
          <a:p>
            <a:r>
              <a:rPr lang="en-IN" sz="1800" b="1" dirty="0"/>
              <a:t>RAG (Retrieval-Augmented Generation)</a:t>
            </a:r>
            <a:r>
              <a:rPr lang="en-IN" sz="1800" dirty="0"/>
              <a:t> – Retrieves trusted farming information before generating responses </a:t>
            </a:r>
          </a:p>
          <a:p>
            <a:endParaRPr lang="en-IN" sz="1800" dirty="0"/>
          </a:p>
          <a:p>
            <a:r>
              <a:rPr lang="en-IN" sz="1800" b="1" dirty="0"/>
              <a:t>FAISS Vector Database</a:t>
            </a:r>
            <a:r>
              <a:rPr lang="en-IN" sz="1800" dirty="0"/>
              <a:t> – Stores agricultural knowledge embeddings for fast retrieval </a:t>
            </a:r>
          </a:p>
          <a:p>
            <a:endParaRPr lang="en-IN" sz="1800" dirty="0"/>
          </a:p>
          <a:p>
            <a:r>
              <a:rPr lang="en-IN" sz="1800" b="1" dirty="0" err="1"/>
              <a:t>FastAPI</a:t>
            </a:r>
            <a:r>
              <a:rPr lang="en-IN" sz="1800" dirty="0"/>
              <a:t> – Backend APIs for farmer queries and agent communication </a:t>
            </a:r>
          </a:p>
          <a:p>
            <a:endParaRPr lang="en-IN" sz="1800" dirty="0"/>
          </a:p>
          <a:p>
            <a:r>
              <a:rPr lang="en-IN" sz="1800" b="1" dirty="0"/>
              <a:t>Weather APIs</a:t>
            </a:r>
            <a:r>
              <a:rPr lang="en-IN" sz="1800" dirty="0"/>
              <a:t> – Provides real-time weather forecasts for farming decisions </a:t>
            </a:r>
          </a:p>
          <a:p>
            <a:r>
              <a:rPr lang="en-IN" sz="1800" b="1" dirty="0"/>
              <a:t>Mandi Price APIs</a:t>
            </a:r>
            <a:r>
              <a:rPr lang="en-IN" sz="1800" dirty="0"/>
              <a:t> – Fetches live crop market prices </a:t>
            </a:r>
          </a:p>
          <a:p>
            <a:r>
              <a:rPr lang="en-IN" sz="1800" b="1" dirty="0"/>
              <a:t>Agricultural Datasets</a:t>
            </a:r>
            <a:r>
              <a:rPr lang="en-IN" sz="1800" dirty="0"/>
              <a:t> – Crop, soil, pest, and fertilizer knowledge sources </a:t>
            </a:r>
          </a:p>
          <a:p>
            <a:r>
              <a:rPr lang="en-IN" sz="1800" b="1" dirty="0"/>
              <a:t>IBM watsonx.ai</a:t>
            </a:r>
            <a:r>
              <a:rPr lang="en-IN" sz="1800" dirty="0"/>
              <a:t> – Model deployment, embeddings, and governance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3230880" y="1207008"/>
            <a:ext cx="80619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1254760" y="803585"/>
            <a:ext cx="712317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Novelty and Uniqueness</a:t>
            </a:r>
            <a:endParaRPr lang="en-IN" sz="1800" dirty="0"/>
          </a:p>
          <a:p>
            <a:r>
              <a:rPr lang="en-IN" sz="1800" dirty="0"/>
              <a:t>• </a:t>
            </a:r>
            <a:r>
              <a:rPr lang="en-IN" sz="1800" b="1" dirty="0"/>
              <a:t>Localized Multilingual Support</a:t>
            </a:r>
            <a:r>
              <a:rPr lang="en-IN" sz="1800" dirty="0"/>
              <a:t> – Farmers interact in their preferred local language for better accessibility.</a:t>
            </a:r>
          </a:p>
          <a:p>
            <a:r>
              <a:rPr lang="en-IN" sz="1800" dirty="0"/>
              <a:t>• </a:t>
            </a:r>
            <a:r>
              <a:rPr lang="en-IN" sz="1800" b="1" dirty="0"/>
              <a:t>Multi-Agent Architecture</a:t>
            </a:r>
            <a:r>
              <a:rPr lang="en-IN" sz="1800" dirty="0"/>
              <a:t> – Specialized agents collaborate for weather, crop recommendation, pest control, soil analysis, and market intelligence.</a:t>
            </a:r>
          </a:p>
          <a:p>
            <a:r>
              <a:rPr lang="en-IN" sz="1800" dirty="0"/>
              <a:t>• </a:t>
            </a:r>
            <a:r>
              <a:rPr lang="en-IN" sz="1800" b="1" dirty="0"/>
              <a:t>RAG-Powered Trusted Retrieval</a:t>
            </a:r>
            <a:r>
              <a:rPr lang="en-IN" sz="1800" dirty="0"/>
              <a:t> – Uses Retrieval-Augmented Generation to fetch verified agricultural data before generating advice.</a:t>
            </a:r>
          </a:p>
          <a:p>
            <a:r>
              <a:rPr lang="en-IN" sz="1800" dirty="0"/>
              <a:t>• </a:t>
            </a:r>
            <a:r>
              <a:rPr lang="en-IN" sz="1800" b="1" dirty="0"/>
              <a:t>Real-Time Decision Support</a:t>
            </a:r>
            <a:r>
              <a:rPr lang="en-IN" sz="1800" dirty="0"/>
              <a:t> – Integrates live weather forecasts, mandi prices, and seasonal farming information.</a:t>
            </a:r>
          </a:p>
          <a:p>
            <a:r>
              <a:rPr lang="en-IN" sz="1800" dirty="0"/>
              <a:t>• </a:t>
            </a:r>
            <a:r>
              <a:rPr lang="en-IN" sz="1800" b="1" dirty="0"/>
              <a:t>Personalized Farming Recommendations</a:t>
            </a:r>
            <a:r>
              <a:rPr lang="en-IN" sz="1800" dirty="0"/>
              <a:t> – Suggestions adapt according to soil conditions, location, crop type, and farmer requirements.</a:t>
            </a:r>
          </a:p>
          <a:p>
            <a:r>
              <a:rPr lang="en-IN" sz="1800" dirty="0"/>
              <a:t>• </a:t>
            </a:r>
            <a:r>
              <a:rPr lang="en-IN" sz="1800" b="1" dirty="0"/>
              <a:t>Market + Crop Intelligence Combination</a:t>
            </a:r>
            <a:r>
              <a:rPr lang="en-IN" sz="1800" dirty="0"/>
              <a:t> – Combines weather, market trends, crop suitability, and pest insights in one system.</a:t>
            </a:r>
          </a:p>
          <a:p>
            <a:r>
              <a:rPr lang="en-IN" sz="1800" dirty="0"/>
              <a:t>• </a:t>
            </a:r>
            <a:r>
              <a:rPr lang="en-IN" sz="1800" b="1" dirty="0"/>
              <a:t>IBM Granite + Agentic AI Integration</a:t>
            </a:r>
            <a:r>
              <a:rPr lang="en-IN" sz="1800" dirty="0"/>
              <a:t> – Uses IBM Granite models with agent-based workflows for contextual reasoning.</a:t>
            </a:r>
          </a:p>
          <a:p>
            <a:r>
              <a:rPr lang="en-IN" sz="1800" dirty="0"/>
              <a:t>• </a:t>
            </a:r>
            <a:r>
              <a:rPr lang="en-IN" sz="1800" b="1" dirty="0"/>
              <a:t>Scalable for Rural Communities</a:t>
            </a:r>
            <a:r>
              <a:rPr lang="en-IN" sz="1800" dirty="0"/>
              <a:t> – Designed for small-scale farmers with low-resource accessibility and future offline support.</a:t>
            </a:r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lang="en-IN" dirty="0"/>
          </a:p>
          <a:p>
            <a:r>
              <a:rPr lang="en-IN" dirty="0">
                <a:hlinkClick r:id="rId3"/>
              </a:rPr>
              <a:t>Bhushan-Sonune/Smart-farming-by-AI-Agent</a:t>
            </a:r>
            <a:endParaRPr lang="en-IN" dirty="0"/>
          </a:p>
          <a:p>
            <a:endParaRPr lang="en-IN" dirty="0"/>
          </a:p>
          <a:p>
            <a:r>
              <a:rPr lang="en-IN" dirty="0"/>
              <a:t>Create your own repository:</a:t>
            </a:r>
          </a:p>
          <a:p>
            <a:r>
              <a:rPr lang="en-IN" dirty="0"/>
              <a:t>github.com/&lt;Bhushan-Sonune&gt;/Smart-farming-by-AI-Agent</a:t>
            </a: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218724" y="2256963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Please create public </a:t>
            </a:r>
            <a:r>
              <a:rPr lang="en-US" sz="185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(Enable Add README  button while creating repository) with format –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test and Paste the working 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– https://github.com/Bhushan-Sonune/Smart-farming-by-AI-Agent.git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sure you have Uploaded following three files into your </a:t>
            </a:r>
            <a:r>
              <a:rPr lang="en-US" sz="1850" b="1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 </a:t>
            </a:r>
            <a:b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app.json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file , 2) yourproblemstatement.pdf file  3) your projectpresntation.pptx file 4)any other files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IN" sz="1800" b="1" dirty="0"/>
              <a:t>Future Scope</a:t>
            </a:r>
            <a:endParaRPr lang="en-IN" sz="1800" dirty="0"/>
          </a:p>
          <a:p>
            <a:r>
              <a:rPr lang="en-IN" sz="1800" dirty="0"/>
              <a:t>• </a:t>
            </a:r>
            <a:r>
              <a:rPr lang="en-IN" sz="1800" b="1" dirty="0"/>
              <a:t>IoT Sensor Integration</a:t>
            </a:r>
            <a:r>
              <a:rPr lang="en-IN" sz="1800" dirty="0"/>
              <a:t> – Connect soil moisture, temperature, humidity, and nutrient sensors for real-time field monitoring.</a:t>
            </a:r>
          </a:p>
          <a:p>
            <a:r>
              <a:rPr lang="en-IN" sz="1800" dirty="0"/>
              <a:t>• </a:t>
            </a:r>
            <a:r>
              <a:rPr lang="en-IN" sz="1800" b="1" dirty="0"/>
              <a:t>Drone &amp; Satellite Integration</a:t>
            </a:r>
            <a:r>
              <a:rPr lang="en-IN" sz="1800" dirty="0"/>
              <a:t> – Use drones and satellite imagery for crop monitoring, yield prediction, and disease detection.</a:t>
            </a:r>
          </a:p>
          <a:p>
            <a:r>
              <a:rPr lang="en-IN" sz="1800" dirty="0"/>
              <a:t>• </a:t>
            </a:r>
            <a:r>
              <a:rPr lang="en-IN" sz="1800" b="1" dirty="0"/>
              <a:t>AI-Based Disease Detection</a:t>
            </a:r>
            <a:r>
              <a:rPr lang="en-IN" sz="1800" dirty="0"/>
              <a:t> – Detect crop diseases from uploaded plant images using computer vision models.</a:t>
            </a:r>
          </a:p>
          <a:p>
            <a:r>
              <a:rPr lang="en-IN" sz="1800" dirty="0"/>
              <a:t>• </a:t>
            </a:r>
            <a:r>
              <a:rPr lang="en-IN" sz="1800" b="1" dirty="0"/>
              <a:t>Voice Assistant with Local Languages</a:t>
            </a:r>
            <a:r>
              <a:rPr lang="en-IN" sz="1800" dirty="0"/>
              <a:t> – Support multilingual voice interactions for farmers with low literacy levels.</a:t>
            </a:r>
          </a:p>
          <a:p>
            <a:r>
              <a:rPr lang="en-IN" sz="1800" dirty="0"/>
              <a:t>• </a:t>
            </a:r>
            <a:r>
              <a:rPr lang="en-IN" sz="1800" b="1" dirty="0"/>
              <a:t>Offline Mode for Rural Areas</a:t>
            </a:r>
            <a:r>
              <a:rPr lang="en-IN" sz="1800" dirty="0"/>
              <a:t> – Provide recommendations even in low-connectivity regions using cached agricultural knowledge.</a:t>
            </a:r>
          </a:p>
          <a:p>
            <a:r>
              <a:rPr lang="en-IN" sz="1800" dirty="0"/>
              <a:t>• </a:t>
            </a:r>
            <a:r>
              <a:rPr lang="en-IN" sz="1800" b="1" dirty="0"/>
              <a:t>Smart Irrigation Recommendations</a:t>
            </a:r>
            <a:r>
              <a:rPr lang="en-IN" sz="1800" dirty="0"/>
              <a:t> – Suggest irrigation schedules using weather forecasts and soil conditions.</a:t>
            </a: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2256963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1185</TotalTime>
  <Words>1110</Words>
  <Application>Microsoft Office PowerPoint</Application>
  <PresentationFormat>Widescreen</PresentationFormat>
  <Paragraphs>168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IBM University Engagement Project Submission  AI Agent for Smart Farming Advice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Bhushan Sonune</cp:lastModifiedBy>
  <cp:revision>22</cp:revision>
  <dcterms:created xsi:type="dcterms:W3CDTF">2025-07-08T05:06:56Z</dcterms:created>
  <dcterms:modified xsi:type="dcterms:W3CDTF">2026-06-04T19:42:22Z</dcterms:modified>
</cp:coreProperties>
</file>